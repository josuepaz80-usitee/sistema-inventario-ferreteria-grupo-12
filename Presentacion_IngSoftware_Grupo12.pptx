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09728" cy="2743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>
                <a:solidFill>
                  <a:srgbClr val="F0F0F5"/>
                </a:solidFill>
              </a:rPr>
              <a:t>SISTEMA DE CONTROL DE INVENTARIO</a:t>
            </a:r>
          </a:p>
          <a:p>
            <a:pPr algn="l"/>
            <a:r>
              <a:rPr sz="2800" b="1">
                <a:solidFill>
                  <a:srgbClr val="00E67A"/>
                </a:solidFill>
              </a:rPr>
              <a:t>PARA FERRETERÍA</a:t>
            </a:r>
          </a:p>
          <a:p>
            <a:pPr algn="l"/>
            <a:r>
              <a:rPr sz="800" b="0">
                <a:solidFill>
                  <a:srgbClr val="8899AA"/>
                </a:solidFill>
              </a:rPr>
              <a:t> </a:t>
            </a:r>
          </a:p>
          <a:p>
            <a:pPr algn="l"/>
            <a:r>
              <a:rPr sz="1600" b="0">
                <a:solidFill>
                  <a:srgbClr val="8899AA"/>
                </a:solidFill>
              </a:rPr>
              <a:t>Plataforma web integral para la automatización, trazabilidad</a:t>
            </a:r>
          </a:p>
          <a:p>
            <a:pPr algn="l"/>
            <a:r>
              <a:rPr sz="1600" b="0">
                <a:solidFill>
                  <a:srgbClr val="8899AA"/>
                </a:solidFill>
              </a:rPr>
              <a:t>y gestión optimizada de productos, ventas y stock en tiempo real.</a:t>
            </a:r>
          </a:p>
          <a:p>
            <a:pPr algn="l"/>
            <a:r>
              <a:rPr sz="800" b="0">
                <a:solidFill>
                  <a:srgbClr val="8899AA"/>
                </a:solidFill>
              </a:rPr>
              <a:t> </a:t>
            </a:r>
          </a:p>
          <a:p>
            <a:pPr algn="l"/>
            <a:r>
              <a:rPr sz="1400" b="0">
                <a:solidFill>
                  <a:srgbClr val="F0F0F5"/>
                </a:solidFill>
              </a:rPr>
              <a:t>Grupo #12 | Henry Pazmiño · Cindy Ayovi · José Malavé</a:t>
            </a:r>
          </a:p>
          <a:p>
            <a:pPr algn="l"/>
            <a:r>
              <a:rPr sz="1300" b="0">
                <a:solidFill>
                  <a:srgbClr val="8899AA"/>
                </a:solidFill>
              </a:rPr>
              <a:t>Docente: Ms. Carlota Delgado Vera · 3SA · Julio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5486400"/>
            <a:ext cx="2286000" cy="32004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80818"/>
                </a:solidFill>
              </a:rPr>
              <a:t>ING. DE SOFTWARE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El Problema Actual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La oportunidad de digitalización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Henry P.  |  Slide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486400" cy="256032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4488"/>
                </a:solidFill>
              </a:rPr>
              <a:t>🔴 PROBLEMA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Control manual deficiente con cientos de SKUs en hojas de cálculo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Errores constantes de stock que provocan pérdidas financieras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Reportes lentos: dificultad para consolidar ventas en tiempo real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Sin trazabilidad: opacidad en historial de entradas y salidas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Falta de control de acceso: cualquier empleado modifica datos críticos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486400" cy="256032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00E67A"/>
                </a:solidFill>
              </a:rPr>
              <a:t>🟢 SOLUCIÓN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Sistema web centralizado: toda la ferretería en una plataforma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Actualización de stock en tiempo real con cada venta o ingreso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Reportes automatizados con exportación a PDF y Excel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Trazabilidad completa: historial de cada movimiento por usuario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Seguridad por roles: permisos diferenciados Administrador/Vendedor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72000"/>
            <a:ext cx="11338560" cy="9144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F0F5"/>
                </a:solidFill>
              </a:rPr>
              <a:t>IMPACTO: Centralización total de inventarios, proveedores, movimientos e historial con acceso multiusuario 24/7</a:t>
            </a:r>
          </a:p>
          <a:p>
            <a:pPr algn="ctr"/>
            <a:r>
              <a:rPr sz="1100" b="0">
                <a:solidFill>
                  <a:srgbClr val="8899AA"/>
                </a:solidFill>
              </a:rPr>
              <a:t>Alcance: Control de inventario (no incluye facturación, SRI, contabilidad ni app móvil)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¿Qué ofrece el sistema?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Propuesta de valor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Henry P.  |  Slide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601200" cy="77724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0F0F5"/>
                </a:solidFill>
              </a:rPr>
              <a:t>🔄  Automatización en tiempo real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Actualización inmediata de stock en cada venta o ingreso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606040"/>
            <a:ext cx="9601200" cy="77724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0F0F5"/>
                </a:solidFill>
              </a:rPr>
              <a:t>⚠️  Alertas de stock mínimo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Notificaciones automáticas para prevenir faltantes críticos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566160"/>
            <a:ext cx="9601200" cy="77724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0F0F5"/>
                </a:solidFill>
              </a:rPr>
              <a:t>📊  Reportes detallados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Múltiples formatos de exportación para análisis financiero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26280"/>
            <a:ext cx="9601200" cy="77724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0F0F5"/>
                </a:solidFill>
              </a:rPr>
              <a:t>🔐  Seguridad por roles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Permisos diferenciados entre Administrador y Vendedor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486400"/>
            <a:ext cx="9601200" cy="77724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0F0F5"/>
                </a:solidFill>
              </a:rPr>
              <a:t>📱  Diseño Responsive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Interfaz adaptada a computadores, tablets y móviles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Análisis de Requerimientos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RF + RNF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Henry P.  |  Slide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292608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10 REQUERIMIENTOS FUNCIONALES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0F5"/>
                </a:solidFill>
              </a:rPr>
              <a:t>•  RF1: Login &amp; Autenticación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0F5"/>
                </a:solidFill>
              </a:rPr>
              <a:t>•  RF2: ABM de Productos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0F5"/>
                </a:solidFill>
              </a:rPr>
              <a:t>•  RF3: ABM de Categorías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0F5"/>
                </a:solidFill>
              </a:rPr>
              <a:t>•  RF4: ABM de Proveedores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0F5"/>
                </a:solidFill>
              </a:rPr>
              <a:t>•  RF5: Entradas/Salidas de Stock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0F5"/>
                </a:solidFill>
              </a:rPr>
              <a:t>•  RF6: Alertas de Stock Mínimo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0F5"/>
                </a:solidFill>
              </a:rPr>
              <a:t>•  RF7: Registro de Movimientos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0F5"/>
                </a:solidFill>
              </a:rPr>
              <a:t>•  RF8: Reportes de Inventario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0F5"/>
                </a:solidFill>
              </a:rPr>
              <a:t>•  RF9: Gestión de Usuarios y Roles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0F5"/>
                </a:solidFill>
              </a:rPr>
              <a:t>•  RF10: Historial de Movimientos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303520" cy="292608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5 REQUERIMIENTOS NO FUNCIONALES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F0F0F5"/>
                </a:solidFill>
              </a:rPr>
              <a:t>▸ Seguridad</a:t>
            </a:r>
          </a:p>
          <a:p>
            <a:pPr algn="l"/>
            <a:r>
              <a:rPr sz="1200">
                <a:solidFill>
                  <a:srgbClr val="8899AA"/>
                </a:solidFill>
              </a:rPr>
              <a:t>   Contraseñas cifradas y gestión estricta de sesiones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F0F0F5"/>
                </a:solidFill>
              </a:rPr>
              <a:t>▸ Disponibilidad</a:t>
            </a:r>
          </a:p>
          <a:p>
            <a:pPr algn="l"/>
            <a:r>
              <a:rPr sz="1200">
                <a:solidFill>
                  <a:srgbClr val="8899AA"/>
                </a:solidFill>
              </a:rPr>
              <a:t>   Operatividad 24/7 en servidor web de alto rendimiento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F0F0F5"/>
                </a:solidFill>
              </a:rPr>
              <a:t>▸ Usabilidad</a:t>
            </a:r>
          </a:p>
          <a:p>
            <a:pPr algn="l"/>
            <a:r>
              <a:rPr sz="1200">
                <a:solidFill>
                  <a:srgbClr val="8899AA"/>
                </a:solidFill>
              </a:rPr>
              <a:t>   Interfaz intuitiva con curva de aprendizaje mínima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F0F0F5"/>
                </a:solidFill>
              </a:rPr>
              <a:t>▸ Rendimiento</a:t>
            </a:r>
          </a:p>
          <a:p>
            <a:pPr algn="l"/>
            <a:r>
              <a:rPr sz="1200">
                <a:solidFill>
                  <a:srgbClr val="8899AA"/>
                </a:solidFill>
              </a:rPr>
              <a:t>   Tiempos de respuesta &lt; 3 segundos por consulta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F0F0F5"/>
                </a:solidFill>
              </a:rPr>
              <a:t>▸ Mantenibilidad</a:t>
            </a:r>
          </a:p>
          <a:p>
            <a:pPr algn="l"/>
            <a:r>
              <a:rPr sz="1200">
                <a:solidFill>
                  <a:srgbClr val="8899AA"/>
                </a:solidFill>
              </a:rPr>
              <a:t>   Código modular documentado según estándares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Arquitectura &amp; Modelado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Diseño técnico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Henry P.  |  Slide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ARQUITECTURA EN 3 CAPAS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F0F0F5"/>
                </a:solidFill>
              </a:rPr>
              <a:t>▸ Capa Presentación</a:t>
            </a:r>
          </a:p>
          <a:p>
            <a:pPr algn="l"/>
            <a:r>
              <a:rPr sz="1200">
                <a:solidFill>
                  <a:srgbClr val="8899AA"/>
                </a:solidFill>
              </a:rPr>
              <a:t>   HTML5 + CSS3 + JS + Bootstrap — Interfaz web responsive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F0F0F5"/>
                </a:solidFill>
              </a:rPr>
              <a:t>▸ Lógica de Negocio</a:t>
            </a:r>
          </a:p>
          <a:p>
            <a:pPr algn="l"/>
            <a:r>
              <a:rPr sz="1200">
                <a:solidFill>
                  <a:srgbClr val="8899AA"/>
                </a:solidFill>
              </a:rPr>
              <a:t>   Python + Flask — Backend robusto estructurado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F0F0F5"/>
                </a:solidFill>
              </a:rPr>
              <a:t>▸ Capa de Datos</a:t>
            </a:r>
          </a:p>
          <a:p>
            <a:pPr algn="l"/>
            <a:r>
              <a:rPr sz="1200">
                <a:solidFill>
                  <a:srgbClr val="8899AA"/>
                </a:solidFill>
              </a:rPr>
              <a:t>   MySQL — 7 tablas normalizadas con relaciones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ARTEFACTOS UML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8 Casos de Uso: Administrador + Vendedor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Diagrama de Secuencia: Control de Stock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Modelo Entidad-Relación: 7 tablas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0F5"/>
                </a:solidFill>
              </a:rPr>
              <a:t>▸  Diagrama de Clases: Arquitectura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F0F5"/>
                </a:solidFill>
              </a:rPr>
              <a:t>Metodología: Desarrollo en 4 incrementos — Análisis → Diseño → Desarrollo → Cierre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Cronograma de Desarrollo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14 semanas — 4 incrementos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Henry P.  |  Slide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3152" cy="73152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10515600" cy="82296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0F0F5"/>
                </a:solidFill>
              </a:rPr>
              <a:t>INC. 1 — Análisis (S1-S4)   ✅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Levantamiento de RF/RNF, WBS y Matriz RACI inicial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73152" cy="73152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743200"/>
            <a:ext cx="10515600" cy="82296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0F0F5"/>
                </a:solidFill>
              </a:rPr>
              <a:t>INC. 2 — Diseño (S5-S8)   ✅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Arquitectura 3 Capas, Diagramas UML y Modelo E-R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73152" cy="73152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840480"/>
            <a:ext cx="10515600" cy="82296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0F0F5"/>
                </a:solidFill>
              </a:rPr>
              <a:t>INC. 3 — Desarrollo (S9-S12)   ✅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Programación Flask/MySQL y prototipado responsive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37759"/>
            <a:ext cx="73152" cy="73152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4937759"/>
            <a:ext cx="10515600" cy="82296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0F0F5"/>
                </a:solidFill>
              </a:rPr>
              <a:t>INC. 4 — Cierre (S13-S14)   ✅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Pruebas, mitigación de riesgos y documentación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Herramientas de Desarrollo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Stack tecnológico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Cindy A.  |  Slide 7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601200" cy="100584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0F0F5"/>
                </a:solidFill>
              </a:rPr>
              <a:t>🐙  Git &amp; GitHub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Control de versiones colaborativo. 6 commits, 2 ramas, 2 Pull Requests fusionados.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9601200" cy="100584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0F0F5"/>
                </a:solidFill>
              </a:rPr>
              <a:t>🐍  Python &amp; MySQL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Backend en Flask conectado con MySQL para persistencia relacional segura. Código fuente en src/main.py.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9601200" cy="100584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0F0F5"/>
                </a:solidFill>
              </a:rPr>
              <a:t>📋  Trello &amp; Draw.io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Gestión ágil con tablero Kanban y diagramado formal de artefactos UML.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Módulos del Sistema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5 pantallas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Cindy A.  |  Slide 8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10058400" cy="73152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🔐  Login</a:t>
            </a:r>
          </a:p>
          <a:p>
            <a:pPr algn="l"/>
            <a:r>
              <a:rPr sz="1300">
                <a:solidFill>
                  <a:srgbClr val="8899AA"/>
                </a:solidFill>
              </a:rPr>
              <a:t>Formulario de inicio de sesión seguro con validación de usuarios y roles.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514600"/>
            <a:ext cx="10058400" cy="73152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📊  Dashboard</a:t>
            </a:r>
          </a:p>
          <a:p>
            <a:pPr algn="l"/>
            <a:r>
              <a:rPr sz="1300">
                <a:solidFill>
                  <a:srgbClr val="8899AA"/>
                </a:solidFill>
              </a:rPr>
              <a:t>Panel de control con métricas en tiempo real: stock, ventas, alertas.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10058400" cy="73152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📦  Productos</a:t>
            </a:r>
          </a:p>
          <a:p>
            <a:pPr algn="l"/>
            <a:r>
              <a:rPr sz="1300">
                <a:solidFill>
                  <a:srgbClr val="8899AA"/>
                </a:solidFill>
              </a:rPr>
              <a:t>ABM completo de productos con búsqueda, filtros y categorías.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434840"/>
            <a:ext cx="10058400" cy="73152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🏪  Stock</a:t>
            </a:r>
          </a:p>
          <a:p>
            <a:pPr algn="l"/>
            <a:r>
              <a:rPr sz="1300">
                <a:solidFill>
                  <a:srgbClr val="8899AA"/>
                </a:solidFill>
              </a:rPr>
              <a:t>Control de entradas y salidas con alertas visuales de stock mínimo.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📄  Reportes</a:t>
            </a:r>
          </a:p>
          <a:p>
            <a:pPr algn="l"/>
            <a:r>
              <a:rPr sz="1300">
                <a:solidFill>
                  <a:srgbClr val="8899AA"/>
                </a:solidFill>
              </a:rPr>
              <a:t>Generación y exportación de reportes dinámicos en PDF y Excel.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Prototipos Visuales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Pantallas 1, 2 y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Cindy A.  |  Slide 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6576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67A"/>
                </a:solidFill>
              </a:rPr>
              <a:t>Login</a:t>
            </a:r>
          </a:p>
        </p:txBody>
      </p:sp>
      <p:pic>
        <p:nvPicPr>
          <p:cNvPr id="5" name="Picture 4" descr="prototipo-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3474720" cy="2606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97680" y="1463040"/>
            <a:ext cx="3474720" cy="36576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67A"/>
                </a:solidFill>
              </a:rPr>
              <a:t>Dashboard</a:t>
            </a:r>
          </a:p>
        </p:txBody>
      </p:sp>
      <p:pic>
        <p:nvPicPr>
          <p:cNvPr id="7" name="Picture 6" descr="prototipo-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920240"/>
            <a:ext cx="3474720" cy="2606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138160" y="1463040"/>
            <a:ext cx="3474720" cy="36576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67A"/>
                </a:solidFill>
              </a:rPr>
              <a:t>Productos</a:t>
            </a:r>
          </a:p>
        </p:txBody>
      </p:sp>
      <p:pic>
        <p:nvPicPr>
          <p:cNvPr id="9" name="Picture 8" descr="prototipo-03-produc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92024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Prototipos Visuales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Pantallas 4 y 5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Cindy A.  |  Slide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4114800" cy="36576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67A"/>
                </a:solidFill>
              </a:rPr>
              <a:t>Stock</a:t>
            </a:r>
          </a:p>
        </p:txBody>
      </p:sp>
      <p:pic>
        <p:nvPicPr>
          <p:cNvPr id="5" name="Picture 4" descr="prototipo-04-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0240"/>
            <a:ext cx="4114800" cy="3086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463040"/>
            <a:ext cx="4114800" cy="36576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67A"/>
                </a:solidFill>
              </a:rPr>
              <a:t>Reportes</a:t>
            </a:r>
          </a:p>
        </p:txBody>
      </p:sp>
      <p:pic>
        <p:nvPicPr>
          <p:cNvPr id="7" name="Picture 6" descr="prototipo-05-repor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2024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Calidad &amp; Gestión de Riesgos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Criterios y estrategias de mitigación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Cindy A.  |  Slide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CRITERIOS DE CALIDAD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Funcionalidad: Cumplimiento del 100% de los 10 RF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Usabilidad: Navegación clara con Bootstrap responsive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Confiabilidad: Consistencia transaccional en MySQL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Mantenibilidad: Código modular estructurado y comentado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MITIGACIÓN DE RIESGOS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R1 Cambios en Requisitos → Protocolo de control de cambios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R2 Sobrecarga de Trabajo → Reparto equitativo con RACI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R3 Fallas de Integración → Pruebas continuas backend/frontend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R4 Curva de Aprendizaje → Sesiones de capacitación previa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Conclusiones &amp; Recomendaciones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Resultados y próximos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Cindy A.  |  Slide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E67A"/>
                </a:solidFill>
              </a:rPr>
              <a:t>✅ CONCLUSIONES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Flujo de trabajo profesional con Git/GitHub: desarrollo colaborativo con historial trazable y PRs revisados.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Metodología en 4 incrementos (Análisis → Diseño → Desarrollo → Cierre) que redujo el riesgo de rediseño.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Prototipo funcional demuestra viabilidad de arquitectura 3 capas con Flask + MySQL.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Criterios de calidad aplicados: funcionalidad, usabilidad, confiabilidad y mantenibilidad.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README completo: nombre, descripción, integrantes, objetivos, 4 funcionalidades, herramientas y estado.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4488"/>
                </a:solidFill>
              </a:rPr>
              <a:t>🔮 RECOMENDACIONES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4488"/>
                </a:solidFill>
              </a:rPr>
              <a:t>▸  Integrar módulo de notificaciones por correo para alertas automáticas de reabastecimiento.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4488"/>
                </a:solidFill>
              </a:rPr>
              <a:t>▸  Implementar suite de pruebas unitarias en Flask/Python para validar iteraciones futuras.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4488"/>
                </a:solidFill>
              </a:rPr>
              <a:t>▸  Evaluar migración a microservicios si la ferretería escala a múltiples sucursales.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E67A"/>
                </a:solidFill>
              </a:rPr>
              <a:t>📚 REFERENCIAS</a:t>
            </a:r>
          </a:p>
          <a:p>
            <a:pPr algn="l"/>
            <a:r>
              <a:rPr sz="1100" b="0">
                <a:solidFill>
                  <a:srgbClr val="8899AA"/>
                </a:solidFill>
              </a:rPr>
              <a:t>Pressman (2010). Ingeniería del Software. 7ª ed. McGraw-Hill.  |  Sommerville (2011). Software Engineering. 9ª ed. Pearson.  |  IEEE SWEBOK v3.0 (2014)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828800"/>
            <a:ext cx="9601200" cy="32004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0F0F5"/>
                </a:solidFill>
              </a:rPr>
              <a:t>¿Preguntas?</a:t>
            </a:r>
          </a:p>
          <a:p>
            <a:pPr algn="l"/>
            <a:r>
              <a:rPr sz="1200" b="0">
                <a:solidFill>
                  <a:srgbClr val="8899AA"/>
                </a:solidFill>
              </a:rPr>
              <a:t> </a:t>
            </a:r>
          </a:p>
          <a:p>
            <a:pPr algn="ctr"/>
            <a:r>
              <a:rPr sz="2200" b="0">
                <a:solidFill>
                  <a:srgbClr val="8899AA"/>
                </a:solidFill>
              </a:rPr>
              <a:t>Muchas gracias por su atención</a:t>
            </a:r>
          </a:p>
          <a:p>
            <a:pPr algn="l"/>
            <a:r>
              <a:rPr sz="800" b="0">
                <a:solidFill>
                  <a:srgbClr val="8899AA"/>
                </a:solidFill>
              </a:rPr>
              <a:t> </a:t>
            </a:r>
          </a:p>
          <a:p>
            <a:pPr algn="ctr"/>
            <a:r>
              <a:rPr sz="1400" b="0">
                <a:solidFill>
                  <a:srgbClr val="00E67A"/>
                </a:solidFill>
              </a:rPr>
              <a:t>Grupo #12 | Ing. de Software I | Julio 2026</a:t>
            </a:r>
          </a:p>
          <a:p>
            <a:pPr algn="ctr"/>
            <a:r>
              <a:rPr sz="1200" b="0">
                <a:solidFill>
                  <a:srgbClr val="8899AA"/>
                </a:solidFill>
              </a:rPr>
              <a:t>github.com/josuepaz80-usitee/Sistema-Inventario-Ferreteria-Grupo-12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0F0F5"/>
                </a:solidFill>
              </a:rPr>
              <a:t>Declaratoria de Transparencia IA</a:t>
            </a:r>
          </a:p>
          <a:p>
            <a:pPr algn="l"/>
            <a:r>
              <a:rPr sz="1600">
                <a:solidFill>
                  <a:srgbClr val="8899AA"/>
                </a:solidFill>
              </a:rPr>
              <a:t>Uso responsable de inteligencia artificial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3840480" cy="457200"/>
          </a:xfrm>
          <a:prstGeom prst="rect">
            <a:avLst/>
          </a:prstGeom>
          <a:solidFill>
            <a:srgbClr val="00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818"/>
                </a:solidFill>
              </a:rPr>
              <a:t>🎤 Henry P.  |  Slide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515600" cy="1828800"/>
          </a:xfrm>
          <a:prstGeom prst="rect">
            <a:avLst/>
          </a:prstGeom>
          <a:solidFill>
            <a:srgbClr val="0F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8899AA"/>
                </a:solidFill>
              </a:rPr>
              <a:t>En este proyecto utilizamos herramientas de inteligencia artificial como apoyo: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ChatGPT y Claude para asistencia en redacción y estructuración de documentos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GitHub Copilot para sugerencias de código en el desarrollo Flask/MySQL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0F0F5"/>
                </a:solidFill>
              </a:rPr>
              <a:t>▸  Draw.io y Trello para diagramación UML y gestión de tareas (sin IA)</a:t>
            </a:r>
          </a:p>
          <a:p>
            <a:pPr algn="l"/>
            <a:r>
              <a:rPr sz="600" b="0">
                <a:solidFill>
                  <a:srgbClr val="8899AA"/>
                </a:solidFill>
              </a:rPr>
              <a:t> </a:t>
            </a:r>
          </a:p>
          <a:p>
            <a:pPr algn="l"/>
            <a:r>
              <a:rPr sz="1400" b="1">
                <a:solidFill>
                  <a:srgbClr val="00E67A"/>
                </a:solidFill>
              </a:rPr>
              <a:t>Todo el contenido fue revisado, validado y aprobado por los integrantes del grupo.</a:t>
            </a:r>
          </a:p>
          <a:p>
            <a:pPr algn="l"/>
            <a:r>
              <a:rPr sz="1400" b="0">
                <a:solidFill>
                  <a:srgbClr val="00E67A"/>
                </a:solidFill>
              </a:rPr>
              <a:t>La responsabilidad académica del trabajo es enteramente del equipo.</a:t>
            </a:r>
          </a:p>
          <a:p>
            <a:pPr algn="l"/>
            <a:r>
              <a:rPr sz="400" b="0">
                <a:solidFill>
                  <a:srgbClr val="8899AA"/>
                </a:solidFill>
              </a:rPr>
              <a:t> </a:t>
            </a:r>
          </a:p>
          <a:p>
            <a:pPr algn="l"/>
            <a:r>
              <a:rPr sz="1200" b="0">
                <a:solidFill>
                  <a:srgbClr val="8899AA"/>
                </a:solidFill>
              </a:rPr>
              <a:t>En cumplimiento del instructivo UAE sobre uso de IA en trabajos académicos.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